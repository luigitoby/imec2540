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327" r:id="rId5"/>
    <p:sldId id="458" r:id="rId6"/>
    <p:sldId id="492" r:id="rId7"/>
    <p:sldId id="493" r:id="rId8"/>
    <p:sldId id="494" r:id="rId9"/>
    <p:sldId id="495" r:id="rId10"/>
    <p:sldId id="496" r:id="rId11"/>
    <p:sldId id="490" r:id="rId12"/>
    <p:sldId id="497" r:id="rId13"/>
    <p:sldId id="486" r:id="rId14"/>
    <p:sldId id="491" r:id="rId15"/>
    <p:sldId id="48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25" userDrawn="1">
          <p15:clr>
            <a:srgbClr val="A4A3A4"/>
          </p15:clr>
        </p15:guide>
        <p15:guide id="2" pos="5246" userDrawn="1">
          <p15:clr>
            <a:srgbClr val="A4A3A4"/>
          </p15:clr>
        </p15:guide>
        <p15:guide id="3" orient="horz" pos="391" userDrawn="1">
          <p15:clr>
            <a:srgbClr val="A4A3A4"/>
          </p15:clr>
        </p15:guide>
        <p15:guide id="4" orient="horz" pos="572" userDrawn="1">
          <p15:clr>
            <a:srgbClr val="F26B43"/>
          </p15:clr>
        </p15:guide>
        <p15:guide id="5" orient="horz" pos="2795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  <p15:guide id="7" orient="horz" pos="3226" userDrawn="1">
          <p15:clr>
            <a:srgbClr val="C35EA4"/>
          </p15:clr>
        </p15:guide>
        <p15:guide id="8" orient="horz" pos="3838" userDrawn="1">
          <p15:clr>
            <a:srgbClr val="C35E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ACDD"/>
    <a:srgbClr val="E5153B"/>
    <a:srgbClr val="282E41"/>
    <a:srgbClr val="2B273F"/>
    <a:srgbClr val="E5DED9"/>
    <a:srgbClr val="5B9BD5"/>
    <a:srgbClr val="FCB131"/>
    <a:srgbClr val="D9AC8B"/>
    <a:srgbClr val="A43333"/>
    <a:srgbClr val="F37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6F768E-9C76-428E-8EF2-F3C79A607D97}" v="504" dt="2025-10-13T20:36:12.0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89054" autoAdjust="0"/>
  </p:normalViewPr>
  <p:slideViewPr>
    <p:cSldViewPr snapToGrid="0" showGuides="1">
      <p:cViewPr varScale="1">
        <p:scale>
          <a:sx n="96" d="100"/>
          <a:sy n="96" d="100"/>
        </p:scale>
        <p:origin x="438" y="72"/>
      </p:cViewPr>
      <p:guideLst>
        <p:guide pos="325"/>
        <p:guide pos="5246"/>
        <p:guide orient="horz" pos="391"/>
        <p:guide orient="horz" pos="572"/>
        <p:guide orient="horz" pos="2795"/>
        <p:guide orient="horz" pos="2160"/>
        <p:guide orient="horz" pos="3226"/>
        <p:guide orient="horz" pos="38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5" d="100"/>
          <a:sy n="55" d="100"/>
        </p:scale>
        <p:origin x="288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515CB58-4C80-48BF-A495-1677AB2ADD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CAC819D-F872-4907-B958-0862B2BA8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7E1C5-597C-4760-823F-6FBC04B64F3B}" type="datetimeFigureOut">
              <a:rPr lang="es-CO" smtClean="0"/>
              <a:t>13/10/2025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659F96-2EC1-4104-AFB4-4C88DBEE1F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92936C-C73F-4087-B791-3A74503659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5A898-0C8F-415B-ABA5-863E388A65F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487675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20:32:58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B7333-0547-4684-AD17-85488E8E9F79}" type="datetimeFigureOut">
              <a:rPr lang="es-CO" smtClean="0"/>
              <a:t>13/10/2025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C008B-91FB-4419-95CE-8C508FC576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89441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5533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B97B1-9010-36F0-ADA2-75880272E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B32802-972B-7C02-CB78-2B76FA50B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C23150-0EFA-8C34-72BD-DDB2913CC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9ADB1A-27EF-CD46-71F1-083F2BCE4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2300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B57F1-FF5B-D1EA-7D1A-883657A1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12B6BB-3816-9557-92F0-31F19BA0A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02D42B-D90F-9DB4-7ABE-E47C077E7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5F8352-30EA-A44C-AE70-04D64F8A0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131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6D59-4E6E-F49E-16D1-65A43850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1323D7-2F70-DBDE-1388-09BC993D7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AD1C00-AECB-6F82-0909-26376FAD2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661793-EF9B-5AD9-C40C-136F2958C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2203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4E52-4DF4-026B-74BB-CAEDBCBB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ADF4590-2E5C-343E-C25E-0D385B404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73FA2F-BADF-961E-23DC-731B9B823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BE3CDC-DC7A-E018-902A-2C0EE26E5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2305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2144D-2F7D-3D12-399F-F1A0102D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8CA0C5-A5A7-E7C0-9B7C-1E7C3553B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BB2DE2-FCF5-7AF9-94EB-B3C88F44F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08C97B-4B5B-4021-407A-E8ECDC96F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302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4C617-D994-CDEF-82DE-04A7A576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4A2703-706B-A4F8-C557-C662975B0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199D90-24F5-1C58-3EFB-CDF8C5FAD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184FA0-69D7-9030-172D-5FAD036F9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1581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D232E-9CC4-C78A-72D1-9B3633E8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67FB65-3B61-07F5-A8E8-DD3788942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5EBA2D-C2B3-5945-BEF6-0422BEF98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646D37-DEBC-D93D-0206-0216C4621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356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DDB8-A257-EE02-3687-9C8B809D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26B7FF-B2D0-98E3-C334-E00564D00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5B8413-3BD8-0553-B3FA-2EE92431D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6F07F-515E-5E91-3C79-A59D2A27E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3862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6256-544F-3934-1580-0623A822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760C3-1D27-BB5D-2BBD-B5AAFFD98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306040B-2381-AC47-E68F-F11A4B640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C1D8FD-1DA6-5E4D-F617-825B524B7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1652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67841-0D16-F640-E2E1-B0F1F11F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F134E1-5242-0328-AAEA-0620770CE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F420FB4-45B6-7B3C-5A85-270B61548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C7E5ED-4A03-56C8-6DBC-32695F936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0C008B-91FB-4419-95CE-8C508FC576FC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023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A9B8E-3E32-4014-94DF-7AE185A1AF22}" type="datetime1">
              <a:rPr lang="es-CO" smtClean="0"/>
              <a:t>13/10/2025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546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" y="408781"/>
            <a:ext cx="10515600" cy="544512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2DACDD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2440" y="1462189"/>
            <a:ext cx="10515600" cy="4351338"/>
          </a:xfrm>
        </p:spPr>
        <p:txBody>
          <a:bodyPr/>
          <a:lstStyle>
            <a:lvl1pPr>
              <a:defRPr>
                <a:solidFill>
                  <a:srgbClr val="2B273F"/>
                </a:solidFill>
              </a:defRPr>
            </a:lvl1pPr>
            <a:lvl2pPr marL="685800" indent="-228600">
              <a:buFont typeface="Calibri" panose="020F0502020204030204" pitchFamily="34" charset="0"/>
              <a:buChar char="‒"/>
              <a:defRPr>
                <a:solidFill>
                  <a:srgbClr val="2B273F"/>
                </a:solidFill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solidFill>
                  <a:srgbClr val="2B273F"/>
                </a:solidFill>
              </a:defRPr>
            </a:lvl3pPr>
            <a:lvl4pPr marL="1600200" indent="-228600">
              <a:buFont typeface="Wingdings" panose="05000000000000000000" pitchFamily="2" charset="2"/>
              <a:buChar char="ü"/>
              <a:defRPr>
                <a:solidFill>
                  <a:srgbClr val="2B273F"/>
                </a:solidFill>
              </a:defRPr>
            </a:lvl4pPr>
            <a:lvl5pPr marL="2057400" indent="-228600">
              <a:buFont typeface="Wingdings" panose="05000000000000000000" pitchFamily="2" charset="2"/>
              <a:buChar char="q"/>
              <a:defRPr>
                <a:solidFill>
                  <a:srgbClr val="2B273F"/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C0449-2024-4D38-955E-79B93D652F61}" type="datetime1">
              <a:rPr lang="es-CO" smtClean="0"/>
              <a:t>13/10/2025</a:t>
            </a:fld>
            <a:endParaRPr lang="es-C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Proyecto Intermedio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24556" y="6390277"/>
            <a:ext cx="2743200" cy="365125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fld id="{A071C489-697C-47CB-93D0-AEFF3C3206B5}" type="slidenum">
              <a:rPr lang="es-CO" smtClean="0"/>
              <a:pPr/>
              <a:t>‹Nº›</a:t>
            </a:fld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51162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2205D202-C545-4129-B974-DF30CC6D7DC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5820A5C-85C1-4ABE-9020-9639D1744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ACB03263-3EA9-4773-92D4-470938E36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840" y="228690"/>
              <a:ext cx="1595523" cy="87940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175843"/>
            <a:ext cx="10515600" cy="1920526"/>
          </a:xfrm>
          <a:noFill/>
        </p:spPr>
        <p:txBody>
          <a:bodyPr wrap="square" rtlCol="0" anchor="ctr" anchorCtr="1">
            <a:spAutoFit/>
          </a:bodyPr>
          <a:lstStyle>
            <a:lvl1pPr algn="ctr">
              <a:defRPr lang="en-US" sz="66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 defTabSz="457200"/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FE5AD-F571-4BAB-ACCD-E966CBFA3BB8}" type="datetime1">
              <a:rPr lang="es-CO" smtClean="0"/>
              <a:t>13/10/2025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Proyecto Intermedio</a:t>
            </a:r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4882382-E52B-4DCA-B19F-27E81D16D987}"/>
              </a:ext>
            </a:extLst>
          </p:cNvPr>
          <p:cNvSpPr txBox="1">
            <a:spLocks/>
          </p:cNvSpPr>
          <p:nvPr userDrawn="1"/>
        </p:nvSpPr>
        <p:spPr>
          <a:xfrm>
            <a:off x="9224556" y="63902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071C489-697C-47CB-93D0-AEFF3C3206B5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1784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D91D4-F15A-4A9D-94D8-5A58F6166EC9}" type="datetime1">
              <a:rPr lang="es-CO" smtClean="0"/>
              <a:t>13/10/2025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682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49EE1-7C59-4CA3-9784-B7F05A491700}" type="datetime1">
              <a:rPr lang="es-CO" smtClean="0"/>
              <a:t>13/10/2025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8829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C504E-B7D7-4E88-A478-3F160ECEDB58}" type="datetime1">
              <a:rPr lang="es-CO" smtClean="0"/>
              <a:t>13/10/2025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064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E6EA5-4812-4EF6-B9E0-185D24F34816}" type="datetime1">
              <a:rPr lang="es-CO" smtClean="0"/>
              <a:t>13/10/2025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854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F7C9A-F2DE-4EDA-83F5-E094FC68E655}" type="datetime1">
              <a:rPr lang="es-CO" smtClean="0"/>
              <a:t>13/10/2025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3026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220F3-7DA7-467A-9496-81B1DA994509}" type="datetime1">
              <a:rPr lang="es-CO" smtClean="0"/>
              <a:t>13/10/2025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0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F7B42-4D02-4FFE-AC1F-98B2CF2EDF4D}" type="datetime1">
              <a:rPr lang="es-CO" smtClean="0"/>
              <a:t>13/10/2025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07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12F13-8FEC-4B73-9108-FBA931F320DB}" type="datetime1">
              <a:rPr lang="es-CO" smtClean="0"/>
              <a:t>13/10/2025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106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8A566-28BA-43C1-93A8-C15DF975CD7F}" type="datetime1">
              <a:rPr lang="es-CO" smtClean="0"/>
              <a:t>13/10/2025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CO"/>
              <a:t>Proyecto Intermedio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1C489-697C-47CB-93D0-AEFF3C3206B5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429E80-CB3E-4B81-8068-E1E228E8BB33}"/>
              </a:ext>
            </a:extLst>
          </p:cNvPr>
          <p:cNvGrpSpPr/>
          <p:nvPr/>
        </p:nvGrpSpPr>
        <p:grpSpPr>
          <a:xfrm>
            <a:off x="-1" y="0"/>
            <a:ext cx="12192000" cy="6858000"/>
            <a:chOff x="0" y="0"/>
            <a:chExt cx="12192000" cy="6858000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00943" y="5631288"/>
              <a:ext cx="1707269" cy="941000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840" y="228690"/>
              <a:ext cx="1595523" cy="879409"/>
            </a:xfrm>
            <a:prstGeom prst="rect">
              <a:avLst/>
            </a:prstGeom>
          </p:spPr>
        </p:pic>
      </p:grpSp>
      <p:sp>
        <p:nvSpPr>
          <p:cNvPr id="7" name="CuadroTexto 6"/>
          <p:cNvSpPr txBox="1"/>
          <p:nvPr/>
        </p:nvSpPr>
        <p:spPr>
          <a:xfrm>
            <a:off x="2637905" y="2226490"/>
            <a:ext cx="69161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400" i="1" dirty="0">
                <a:solidFill>
                  <a:schemeClr val="bg1"/>
                </a:solidFill>
              </a:rPr>
              <a:t>Dinámica de sistemas mecánicos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6532630" y="4599196"/>
            <a:ext cx="36683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 b="1" i="1" dirty="0">
                <a:solidFill>
                  <a:schemeClr val="bg1"/>
                </a:solidFill>
              </a:rPr>
              <a:t>Jonathan Camargo</a:t>
            </a:r>
          </a:p>
          <a:p>
            <a:pPr algn="ctr"/>
            <a:r>
              <a:rPr lang="es-CO" sz="2400" i="1" dirty="0">
                <a:solidFill>
                  <a:schemeClr val="bg1"/>
                </a:solidFill>
              </a:rPr>
              <a:t>jon-cama</a:t>
            </a:r>
            <a:r>
              <a:rPr lang="en-US" sz="2400" i="1" dirty="0">
                <a:solidFill>
                  <a:schemeClr val="bg1"/>
                </a:solidFill>
              </a:rPr>
              <a:t>@uniandes.edu.co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4E24CE-11E4-423F-A7B2-B9B2B13F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t>1</a:t>
            </a:fld>
            <a:endParaRPr lang="es-CO"/>
          </a:p>
        </p:txBody>
      </p:sp>
      <p:sp>
        <p:nvSpPr>
          <p:cNvPr id="8" name="CuadroTexto 6">
            <a:extLst>
              <a:ext uri="{FF2B5EF4-FFF2-40B4-BE49-F238E27FC236}">
                <a16:creationId xmlns:a16="http://schemas.microsoft.com/office/drawing/2014/main" id="{E211E5CD-42F4-5333-A042-39A9E293095B}"/>
              </a:ext>
            </a:extLst>
          </p:cNvPr>
          <p:cNvSpPr txBox="1"/>
          <p:nvPr/>
        </p:nvSpPr>
        <p:spPr>
          <a:xfrm>
            <a:off x="2637903" y="3633434"/>
            <a:ext cx="691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Complementaria No. 10</a:t>
            </a:r>
          </a:p>
        </p:txBody>
      </p:sp>
      <p:sp>
        <p:nvSpPr>
          <p:cNvPr id="4" name="CuadroTexto 9">
            <a:extLst>
              <a:ext uri="{FF2B5EF4-FFF2-40B4-BE49-F238E27FC236}">
                <a16:creationId xmlns:a16="http://schemas.microsoft.com/office/drawing/2014/main" id="{BBDE7CEA-1B59-E157-666D-E7A02ED94DCC}"/>
              </a:ext>
            </a:extLst>
          </p:cNvPr>
          <p:cNvSpPr txBox="1"/>
          <p:nvPr/>
        </p:nvSpPr>
        <p:spPr>
          <a:xfrm>
            <a:off x="1548483" y="4638992"/>
            <a:ext cx="3924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 b="1" i="1" dirty="0">
                <a:solidFill>
                  <a:schemeClr val="bg1"/>
                </a:solidFill>
              </a:rPr>
              <a:t>Daniel Alvarez</a:t>
            </a:r>
          </a:p>
          <a:p>
            <a:pPr algn="ctr"/>
            <a:r>
              <a:rPr lang="es-CO" sz="2400" i="1" dirty="0">
                <a:solidFill>
                  <a:schemeClr val="bg1"/>
                </a:solidFill>
              </a:rPr>
              <a:t>da.alvarezv</a:t>
            </a:r>
            <a:r>
              <a:rPr lang="en-US" sz="2400" i="1" dirty="0">
                <a:solidFill>
                  <a:schemeClr val="bg1"/>
                </a:solidFill>
              </a:rPr>
              <a:t>@uniandes.edu.co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11" name="CuadroTexto 9">
            <a:extLst>
              <a:ext uri="{FF2B5EF4-FFF2-40B4-BE49-F238E27FC236}">
                <a16:creationId xmlns:a16="http://schemas.microsoft.com/office/drawing/2014/main" id="{A221CE3D-14D3-A46F-6569-3A1018770AC7}"/>
              </a:ext>
            </a:extLst>
          </p:cNvPr>
          <p:cNvSpPr txBox="1"/>
          <p:nvPr/>
        </p:nvSpPr>
        <p:spPr>
          <a:xfrm>
            <a:off x="2833001" y="4296336"/>
            <a:ext cx="1355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i="1" dirty="0">
                <a:solidFill>
                  <a:schemeClr val="bg1"/>
                </a:solidFill>
              </a:rPr>
              <a:t>Asistente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19F30F61-3E5C-88CC-E1F4-14873F4664C5}"/>
              </a:ext>
            </a:extLst>
          </p:cNvPr>
          <p:cNvSpPr txBox="1"/>
          <p:nvPr/>
        </p:nvSpPr>
        <p:spPr>
          <a:xfrm>
            <a:off x="7719016" y="4296336"/>
            <a:ext cx="129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i="1" dirty="0">
                <a:solidFill>
                  <a:schemeClr val="bg1"/>
                </a:solidFill>
              </a:rPr>
              <a:t>Principal</a:t>
            </a:r>
            <a:endParaRPr lang="es-CO" sz="2400" i="1" dirty="0">
              <a:solidFill>
                <a:schemeClr val="bg1"/>
              </a:solidFill>
            </a:endParaRPr>
          </a:p>
        </p:txBody>
      </p:sp>
      <p:sp>
        <p:nvSpPr>
          <p:cNvPr id="13" name="CuadroTexto 6">
            <a:extLst>
              <a:ext uri="{FF2B5EF4-FFF2-40B4-BE49-F238E27FC236}">
                <a16:creationId xmlns:a16="http://schemas.microsoft.com/office/drawing/2014/main" id="{EE694C10-B1DB-DFA8-05BF-DC188DA4435F}"/>
              </a:ext>
            </a:extLst>
          </p:cNvPr>
          <p:cNvSpPr txBox="1"/>
          <p:nvPr/>
        </p:nvSpPr>
        <p:spPr>
          <a:xfrm>
            <a:off x="2637903" y="6376532"/>
            <a:ext cx="691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/>
                </a:solidFill>
              </a:rPr>
              <a:t>2025 - II</a:t>
            </a:r>
            <a:endParaRPr lang="es-CO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8930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B810D-CFE3-4123-967A-4AC4E1C68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07" y="1034027"/>
            <a:ext cx="3280277" cy="1006429"/>
          </a:xfrm>
        </p:spPr>
        <p:txBody>
          <a:bodyPr/>
          <a:lstStyle/>
          <a:p>
            <a:pPr algn="l"/>
            <a:r>
              <a:rPr lang="es-CO" dirty="0"/>
              <a:t>Temas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4B698C-6FF0-47D8-BB9C-2E66D7D4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Proyecto Intermedio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79016-2E47-B32A-EA0D-07E7CCC4A54C}"/>
              </a:ext>
            </a:extLst>
          </p:cNvPr>
          <p:cNvSpPr txBox="1"/>
          <p:nvPr/>
        </p:nvSpPr>
        <p:spPr>
          <a:xfrm>
            <a:off x="978941" y="2492789"/>
            <a:ext cx="79034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Revisión de laboratorio No.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EDO y EDP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Sistemas dinámicos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chemeClr val="bg1"/>
                </a:solidFill>
              </a:rPr>
              <a:t>Diagrama de </a:t>
            </a:r>
            <a:r>
              <a:rPr lang="es-ES" sz="2800" dirty="0" err="1">
                <a:solidFill>
                  <a:schemeClr val="bg1"/>
                </a:solidFill>
              </a:rPr>
              <a:t>Poincare</a:t>
            </a:r>
            <a:endParaRPr lang="es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50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D70C-5823-9990-6F5B-157E9CAD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0455205E-6889-347B-3419-7990D227B458}"/>
              </a:ext>
            </a:extLst>
          </p:cNvPr>
          <p:cNvSpPr/>
          <p:nvPr/>
        </p:nvSpPr>
        <p:spPr>
          <a:xfrm>
            <a:off x="7923540" y="5495417"/>
            <a:ext cx="2108200" cy="63785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05A052-5285-0AAC-7884-9329F68A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EDO y EDP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66977C2-4ABD-6F4D-8F85-C4AB9D58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3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C43782FD-6049-D252-267C-CED109243B91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5BC9C25-C68D-85DF-2E02-941E87008600}"/>
                  </a:ext>
                </a:extLst>
              </p:cNvPr>
              <p:cNvSpPr txBox="1"/>
              <p:nvPr/>
            </p:nvSpPr>
            <p:spPr>
              <a:xfrm>
                <a:off x="548266" y="995589"/>
                <a:ext cx="10813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/>
                  <a:t>Una </a:t>
                </a:r>
                <a:r>
                  <a:rPr lang="es-ES" sz="2400" b="1" dirty="0"/>
                  <a:t>ecuación diferencial</a:t>
                </a:r>
                <a:r>
                  <a:rPr lang="es-ES" sz="2400" dirty="0"/>
                  <a:t> relaciona una función desconocida con sus derivadas. Si las derivadas son respecto a </a:t>
                </a:r>
                <a:r>
                  <a:rPr lang="es-ES" sz="2400" b="1" dirty="0"/>
                  <a:t>una</a:t>
                </a:r>
                <a:r>
                  <a:rPr lang="es-ES" sz="2400" dirty="0"/>
                  <a:t> variable (p. ej.,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sz="2400" dirty="0"/>
                  <a:t>), es una </a:t>
                </a:r>
                <a:r>
                  <a:rPr lang="es-ES" sz="2400" b="1" dirty="0"/>
                  <a:t>EDO</a:t>
                </a:r>
                <a:r>
                  <a:rPr lang="es-ES" sz="2400" dirty="0"/>
                  <a:t>; si aparecen parciales respecto a </a:t>
                </a:r>
                <a:r>
                  <a:rPr lang="es-ES" sz="2400" b="1" dirty="0"/>
                  <a:t>dos o más</a:t>
                </a:r>
                <a:r>
                  <a:rPr lang="es-ES" sz="2400" dirty="0"/>
                  <a:t> (p. ej.,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2400" dirty="0"/>
                  <a:t>), es una </a:t>
                </a:r>
                <a:r>
                  <a:rPr lang="es-ES" sz="2400" b="1" dirty="0"/>
                  <a:t>EDP</a:t>
                </a:r>
                <a:r>
                  <a:rPr lang="es-ES" sz="2400" dirty="0"/>
                  <a:t>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5BC9C25-C68D-85DF-2E02-941E87008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66" y="995589"/>
                <a:ext cx="10813774" cy="1200329"/>
              </a:xfrm>
              <a:prstGeom prst="rect">
                <a:avLst/>
              </a:prstGeom>
              <a:blipFill>
                <a:blip r:embed="rId3"/>
                <a:stretch>
                  <a:fillRect l="-902" t="-4061" b="-1066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F2A0549-3146-ADAC-6752-747931008476}"/>
                  </a:ext>
                </a:extLst>
              </p:cNvPr>
              <p:cNvSpPr txBox="1"/>
              <p:nvPr/>
            </p:nvSpPr>
            <p:spPr>
              <a:xfrm>
                <a:off x="7340831" y="2709291"/>
                <a:ext cx="3490379" cy="423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s-E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s-ES" sz="2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p>
                            <m:sSupPr>
                              <m:ctrlP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BF2A0549-3146-ADAC-6752-747931008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0831" y="2709291"/>
                <a:ext cx="3490379" cy="423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A487259A-E14A-1D60-B201-D9AB77019C90}"/>
              </a:ext>
            </a:extLst>
          </p:cNvPr>
          <p:cNvSpPr txBox="1"/>
          <p:nvPr/>
        </p:nvSpPr>
        <p:spPr>
          <a:xfrm>
            <a:off x="829960" y="2172373"/>
            <a:ext cx="1189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Función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83563F-B2FF-F483-5E62-6EF7FBE0DFE4}"/>
              </a:ext>
            </a:extLst>
          </p:cNvPr>
          <p:cNvSpPr txBox="1"/>
          <p:nvPr/>
        </p:nvSpPr>
        <p:spPr>
          <a:xfrm>
            <a:off x="2677810" y="2172373"/>
            <a:ext cx="1513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Derivada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F56B1DA-8B9B-5E25-2779-0D470A0FC073}"/>
              </a:ext>
            </a:extLst>
          </p:cNvPr>
          <p:cNvSpPr txBox="1"/>
          <p:nvPr/>
        </p:nvSpPr>
        <p:spPr>
          <a:xfrm>
            <a:off x="4582810" y="2172372"/>
            <a:ext cx="1513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811687D-7178-BA55-E0FF-7ED51A7EDA78}"/>
                  </a:ext>
                </a:extLst>
              </p:cNvPr>
              <p:cNvSpPr txBox="1"/>
              <p:nvPr/>
            </p:nvSpPr>
            <p:spPr>
              <a:xfrm>
                <a:off x="1170105" y="2921273"/>
                <a:ext cx="5090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811687D-7178-BA55-E0FF-7ED51A7ED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05" y="2921273"/>
                <a:ext cx="509050" cy="276999"/>
              </a:xfrm>
              <a:prstGeom prst="rect">
                <a:avLst/>
              </a:prstGeom>
              <a:blipFill>
                <a:blip r:embed="rId5"/>
                <a:stretch>
                  <a:fillRect l="-15663" t="-2174" r="-16867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8DA387-1F68-3BF6-1414-DDD26137FAEB}"/>
                  </a:ext>
                </a:extLst>
              </p:cNvPr>
              <p:cNvSpPr txBox="1"/>
              <p:nvPr/>
            </p:nvSpPr>
            <p:spPr>
              <a:xfrm>
                <a:off x="1223135" y="371283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38DA387-1F68-3BF6-1414-DDD26137F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135" y="3712835"/>
                <a:ext cx="186718" cy="276999"/>
              </a:xfrm>
              <a:prstGeom prst="rect">
                <a:avLst/>
              </a:prstGeom>
              <a:blipFill>
                <a:blip r:embed="rId6"/>
                <a:stretch>
                  <a:fillRect l="-33333" r="-30000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A5107D7-535D-09BD-5330-87B58EB481CF}"/>
                  </a:ext>
                </a:extLst>
              </p:cNvPr>
              <p:cNvSpPr txBox="1"/>
              <p:nvPr/>
            </p:nvSpPr>
            <p:spPr>
              <a:xfrm>
                <a:off x="1170105" y="4504397"/>
                <a:ext cx="475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A5107D7-535D-09BD-5330-87B58EB48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05" y="4504397"/>
                <a:ext cx="475643" cy="276999"/>
              </a:xfrm>
              <a:prstGeom prst="rect">
                <a:avLst/>
              </a:prstGeom>
              <a:blipFill>
                <a:blip r:embed="rId7"/>
                <a:stretch>
                  <a:fillRect l="-16667" t="-2222" r="-17949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1B8B905-2234-5244-F71D-C7F2C2D38597}"/>
                  </a:ext>
                </a:extLst>
              </p:cNvPr>
              <p:cNvSpPr txBox="1"/>
              <p:nvPr/>
            </p:nvSpPr>
            <p:spPr>
              <a:xfrm>
                <a:off x="1170105" y="5218419"/>
                <a:ext cx="476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1B8B905-2234-5244-F71D-C7F2C2D38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105" y="5218419"/>
                <a:ext cx="476092" cy="276999"/>
              </a:xfrm>
              <a:prstGeom prst="rect">
                <a:avLst/>
              </a:prstGeom>
              <a:blipFill>
                <a:blip r:embed="rId8"/>
                <a:stretch>
                  <a:fillRect l="-11538" t="-2222" r="-17949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8B5B5D0-5285-B1B7-FA03-52BFE3D4EE97}"/>
                  </a:ext>
                </a:extLst>
              </p:cNvPr>
              <p:cNvSpPr txBox="1"/>
              <p:nvPr/>
            </p:nvSpPr>
            <p:spPr>
              <a:xfrm>
                <a:off x="3114637" y="5093961"/>
                <a:ext cx="319768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88B5B5D0-5285-B1B7-FA03-52BFE3D4E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37" y="5093961"/>
                <a:ext cx="319768" cy="525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38E28B7-FFE8-D61D-46D1-73FCBF0B9D2E}"/>
                  </a:ext>
                </a:extLst>
              </p:cNvPr>
              <p:cNvSpPr txBox="1"/>
              <p:nvPr/>
            </p:nvSpPr>
            <p:spPr>
              <a:xfrm>
                <a:off x="3133040" y="4205738"/>
                <a:ext cx="301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F38E28B7-FFE8-D61D-46D1-73FCBF0B9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040" y="4205738"/>
                <a:ext cx="301365" cy="276999"/>
              </a:xfrm>
              <a:prstGeom prst="rect">
                <a:avLst/>
              </a:prstGeom>
              <a:blipFill>
                <a:blip r:embed="rId10"/>
                <a:stretch>
                  <a:fillRect l="-20408" t="-4444" r="-22449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B5973CC-8B37-DC1A-10BA-27A84BB17F3C}"/>
                  </a:ext>
                </a:extLst>
              </p:cNvPr>
              <p:cNvSpPr txBox="1"/>
              <p:nvPr/>
            </p:nvSpPr>
            <p:spPr>
              <a:xfrm>
                <a:off x="3133040" y="3712835"/>
                <a:ext cx="24205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B5973CC-8B37-DC1A-10BA-27A84BB17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040" y="3712835"/>
                <a:ext cx="242053" cy="276999"/>
              </a:xfrm>
              <a:prstGeom prst="rect">
                <a:avLst/>
              </a:prstGeom>
              <a:blipFill>
                <a:blip r:embed="rId11"/>
                <a:stretch>
                  <a:fillRect l="-25000" t="-4348" r="-25000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F515FBB-74D6-047F-1A6E-E57CCD2461A5}"/>
                  </a:ext>
                </a:extLst>
              </p:cNvPr>
              <p:cNvSpPr txBox="1"/>
              <p:nvPr/>
            </p:nvSpPr>
            <p:spPr>
              <a:xfrm>
                <a:off x="2999541" y="2921272"/>
                <a:ext cx="561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2F515FBB-74D6-047F-1A6E-E57CCD246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541" y="2921272"/>
                <a:ext cx="561628" cy="276999"/>
              </a:xfrm>
              <a:prstGeom prst="rect">
                <a:avLst/>
              </a:prstGeom>
              <a:blipFill>
                <a:blip r:embed="rId12"/>
                <a:stretch>
                  <a:fillRect l="-14130" t="-4348" r="-15217" b="-3260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AD595B7-A636-A358-DF0B-BC7E44D7817A}"/>
                  </a:ext>
                </a:extLst>
              </p:cNvPr>
              <p:cNvSpPr txBox="1"/>
              <p:nvPr/>
            </p:nvSpPr>
            <p:spPr>
              <a:xfrm>
                <a:off x="5156085" y="2922964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AD595B7-A636-A358-DF0B-BC7E44D78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085" y="2922964"/>
                <a:ext cx="183320" cy="276999"/>
              </a:xfrm>
              <a:prstGeom prst="rect">
                <a:avLst/>
              </a:prstGeom>
              <a:blipFill>
                <a:blip r:embed="rId1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0DEF123-5BA4-4F8D-9C11-68FE48E6CE35}"/>
                  </a:ext>
                </a:extLst>
              </p:cNvPr>
              <p:cNvSpPr txBox="1"/>
              <p:nvPr/>
            </p:nvSpPr>
            <p:spPr>
              <a:xfrm>
                <a:off x="5097990" y="5218419"/>
                <a:ext cx="1499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B0DEF123-5BA4-4F8D-9C11-68FE48E6C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990" y="5218419"/>
                <a:ext cx="149913" cy="276999"/>
              </a:xfrm>
              <a:prstGeom prst="rect">
                <a:avLst/>
              </a:prstGeom>
              <a:blipFill>
                <a:blip r:embed="rId14"/>
                <a:stretch>
                  <a:fillRect l="-32000" r="-28000" b="-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id="{1B94BB6E-1EB7-169D-FB20-C6DCD57353DA}"/>
              </a:ext>
            </a:extLst>
          </p:cNvPr>
          <p:cNvSpPr txBox="1"/>
          <p:nvPr/>
        </p:nvSpPr>
        <p:spPr>
          <a:xfrm>
            <a:off x="7386017" y="3306638"/>
            <a:ext cx="35594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EDO: y’(x) = f(</a:t>
            </a:r>
            <a:r>
              <a:rPr lang="es-ES" sz="2400" dirty="0" err="1"/>
              <a:t>x,y</a:t>
            </a:r>
            <a:r>
              <a:rPr lang="es-ES" sz="2400" dirty="0"/>
              <a:t>)</a:t>
            </a:r>
          </a:p>
          <a:p>
            <a:r>
              <a:rPr lang="es-ES" sz="2400" dirty="0"/>
              <a:t>EDP: </a:t>
            </a:r>
            <a:r>
              <a:rPr lang="es-ES" sz="2400" dirty="0" err="1"/>
              <a:t>u_t</a:t>
            </a:r>
            <a:r>
              <a:rPr lang="es-ES" sz="2400" dirty="0"/>
              <a:t> = Alpha^2 </a:t>
            </a:r>
            <a:r>
              <a:rPr lang="es-ES" sz="2400" dirty="0" err="1"/>
              <a:t>u_xx</a:t>
            </a:r>
            <a:endParaRPr lang="es-ES" sz="2400" dirty="0"/>
          </a:p>
          <a:p>
            <a:r>
              <a:rPr lang="es-ES" sz="2400" dirty="0"/>
              <a:t>Orden: mayor derivada</a:t>
            </a:r>
          </a:p>
          <a:p>
            <a:r>
              <a:rPr lang="es-ES" sz="2400" dirty="0"/>
              <a:t>Linealidad: Lineal en su incógnita.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F6B49A15-5E40-9809-F933-8D9E739DD02C}"/>
                  </a:ext>
                </a:extLst>
              </p:cNvPr>
              <p:cNvSpPr txBox="1"/>
              <p:nvPr/>
            </p:nvSpPr>
            <p:spPr>
              <a:xfrm>
                <a:off x="8369300" y="5667128"/>
                <a:ext cx="12166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E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E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F6B49A15-5E40-9809-F933-8D9E739DD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9300" y="5667128"/>
                <a:ext cx="1216680" cy="276999"/>
              </a:xfrm>
              <a:prstGeom prst="rect">
                <a:avLst/>
              </a:prstGeom>
              <a:blipFill>
                <a:blip r:embed="rId15"/>
                <a:stretch>
                  <a:fillRect l="-4500" t="-2222" r="-3500" b="-2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59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FFD4-C7F6-980F-B0A0-DBC3D2896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CEBED-5B52-9B98-F150-AD7FA867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EDO (1er orden)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2EB61-E874-FAA4-69B7-62F53C90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4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26B21CD3-67E5-C195-2FFB-0BBB3AB32FA4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61E7956-12A5-3CC4-4E57-D6E509E47B4F}"/>
                  </a:ext>
                </a:extLst>
              </p:cNvPr>
              <p:cNvSpPr txBox="1"/>
              <p:nvPr/>
            </p:nvSpPr>
            <p:spPr>
              <a:xfrm>
                <a:off x="556590" y="1127727"/>
                <a:ext cx="1081377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400" dirty="0"/>
                  <a:t>Si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sz="2400" dirty="0"/>
                  <a:t>, </a:t>
                </a:r>
                <a:r>
                  <a:rPr lang="es-CO" sz="2400" dirty="0"/>
                  <a:t>podemos separar variables para integrar cada lado cuando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400" dirty="0"/>
                  <a:t>.</a:t>
                </a:r>
                <a:endParaRPr lang="es-ES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361E7956-12A5-3CC4-4E57-D6E509E47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0" y="1127727"/>
                <a:ext cx="10813774" cy="491288"/>
              </a:xfrm>
              <a:prstGeom prst="rect">
                <a:avLst/>
              </a:prstGeom>
              <a:blipFill>
                <a:blip r:embed="rId3"/>
                <a:stretch>
                  <a:fillRect l="-846" t="-11111" b="-2098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D27FC32-BBAC-63C1-4A35-E9F41BD22715}"/>
                  </a:ext>
                </a:extLst>
              </p:cNvPr>
              <p:cNvSpPr txBox="1"/>
              <p:nvPr/>
            </p:nvSpPr>
            <p:spPr>
              <a:xfrm>
                <a:off x="835990" y="1857557"/>
                <a:ext cx="10813774" cy="987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400" dirty="0"/>
                  <a:t>Modelo exponencial: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D27FC32-BBAC-63C1-4A35-E9F41BD22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90" y="1857557"/>
                <a:ext cx="10813774" cy="987578"/>
              </a:xfrm>
              <a:prstGeom prst="rect">
                <a:avLst/>
              </a:prstGeom>
              <a:blipFill>
                <a:blip r:embed="rId4"/>
                <a:stretch>
                  <a:fillRect l="-846" t="-49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92E6E50-1C6B-00E8-C250-AB204367A6E2}"/>
                  </a:ext>
                </a:extLst>
              </p:cNvPr>
              <p:cNvSpPr txBox="1"/>
              <p:nvPr/>
            </p:nvSpPr>
            <p:spPr>
              <a:xfrm>
                <a:off x="4890327" y="3976469"/>
                <a:ext cx="3048000" cy="624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ar-AE" sz="2400" b="0" i="1"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ar-AE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 sz="2400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sz="2400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400" b="0" i="1">
                        <a:latin typeface="Cambria Math" panose="02040503050406030204" pitchFamily="18" charset="0"/>
                      </a:rPr>
                      <m:t>  </m:t>
                    </m:r>
                    <m:r>
                      <a:rPr lang="ar-AE" sz="2400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b="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400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b="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/>
                  <a:t>.</a:t>
                </a:r>
                <a:endParaRPr lang="es-CO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D92E6E50-1C6B-00E8-C250-AB204367A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327" y="3976469"/>
                <a:ext cx="3048000" cy="624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793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4ED4-7B28-C43E-85DD-735EF79C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E81A6-4B37-A134-C137-78A9CCB3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EDO (1er orden)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900777-707F-2354-633A-F87201D5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5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6EAD3AB7-F02A-182F-42EC-B10665E95E65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3E60B42-8BFA-B2C5-DD70-D5D1C3C97F66}"/>
                  </a:ext>
                </a:extLst>
              </p:cNvPr>
              <p:cNvSpPr txBox="1"/>
              <p:nvPr/>
            </p:nvSpPr>
            <p:spPr>
              <a:xfrm>
                <a:off x="556590" y="1127727"/>
                <a:ext cx="108137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400" b="1" dirty="0"/>
                  <a:t>Por qué el método:</a:t>
                </a:r>
                <a:r>
                  <a:rPr lang="es-CO" sz="2400" dirty="0"/>
                  <a:t> Queremos que el lado izquierdo sea una derivada de producto.</a:t>
                </a:r>
                <a:br>
                  <a:rPr lang="es-CO" sz="2400" dirty="0"/>
                </a:br>
                <a:r>
                  <a:rPr lang="es-CO" sz="2400" b="1" dirty="0"/>
                  <a:t>Forma estándar:</a:t>
                </a:r>
                <a:r>
                  <a:rPr lang="es-CO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2400" dirty="0"/>
                  <a:t>.</a:t>
                </a:r>
                <a:br>
                  <a:rPr lang="ar-AE" sz="2400" dirty="0"/>
                </a:br>
                <a:r>
                  <a:rPr lang="es-CO" sz="2400" b="1" dirty="0"/>
                  <a:t>Factor integrante:</a:t>
                </a:r>
                <a:r>
                  <a:rPr lang="es-CO" sz="2400" dirty="0"/>
                  <a:t>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nary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𝑑𝑥</m:t>
                        </m:r>
                      </m:sup>
                    </m:sSup>
                  </m:oMath>
                </a14:m>
                <a:r>
                  <a:rPr lang="ar-AE" sz="2400" dirty="0"/>
                  <a:t>. </a:t>
                </a:r>
                <a:r>
                  <a:rPr lang="es-CO" sz="2400" dirty="0"/>
                  <a:t>Entonces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ar-AE" sz="2400" dirty="0"/>
                  <a:t>.</a:t>
                </a:r>
                <a:endParaRPr lang="es-ES" sz="24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53E60B42-8BFA-B2C5-DD70-D5D1C3C97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0" y="1127727"/>
                <a:ext cx="10813774" cy="1200329"/>
              </a:xfrm>
              <a:prstGeom prst="rect">
                <a:avLst/>
              </a:prstGeom>
              <a:blipFill>
                <a:blip r:embed="rId3"/>
                <a:stretch>
                  <a:fillRect l="-846" t="-4061" b="-7665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9446265-B6E8-55AF-F6BB-F11002BB6015}"/>
                  </a:ext>
                </a:extLst>
              </p:cNvPr>
              <p:cNvSpPr txBox="1"/>
              <p:nvPr/>
            </p:nvSpPr>
            <p:spPr>
              <a:xfrm>
                <a:off x="689113" y="2663537"/>
                <a:ext cx="10813774" cy="2722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CO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400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nary>
                        <m:r>
                          <a:rPr lang="ar-AE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ar-AE" i="1"/>
                          <m:t> 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𝑑𝑥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400" dirty="0"/>
                  <a:t>.</a:t>
                </a:r>
              </a:p>
              <a:p>
                <a:r>
                  <a:rPr lang="es-CO" sz="2400" dirty="0"/>
                  <a:t>Multiplico: </a:t>
                </a:r>
                <a14:m>
                  <m:oMath xmlns:m="http://schemas.openxmlformats.org/officeDocument/2006/math"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r>
                  <a:rPr lang="ar-AE" sz="2400" dirty="0"/>
                  <a:t>.</a:t>
                </a:r>
              </a:p>
              <a:p>
                <a:r>
                  <a:rPr lang="es-CO" sz="2400" dirty="0"/>
                  <a:t>Integro por partes: 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ar-AE" sz="2400" dirty="0"/>
                  <a:t>.</a:t>
                </a:r>
              </a:p>
              <a:p>
                <a:endParaRPr lang="es-CO" i="1" dirty="0"/>
              </a:p>
              <a:p>
                <a:endParaRPr lang="es-CO" i="1" dirty="0"/>
              </a:p>
              <a:p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CO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ar-AE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2400" dirty="0"/>
                  <a:t>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9446265-B6E8-55AF-F6BB-F11002BB6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13" y="2663537"/>
                <a:ext cx="10813774" cy="2722861"/>
              </a:xfrm>
              <a:prstGeom prst="rect">
                <a:avLst/>
              </a:prstGeom>
              <a:blipFill>
                <a:blip r:embed="rId4"/>
                <a:stretch>
                  <a:fillRect l="-846" t="-895" b="-268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71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6D6D-6DDB-AD00-3A7C-B3B9C97E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8693F-60C4-04DE-C61D-2A36C86A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EDO (2do orden)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1540AE-21AA-BD69-882B-A2ABCF43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6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80A5A035-43C8-F971-AC55-139CDD201BA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104FA07-0DE4-17F2-EE2F-958E4172A1FB}"/>
                  </a:ext>
                </a:extLst>
              </p:cNvPr>
              <p:cNvSpPr txBox="1"/>
              <p:nvPr/>
            </p:nvSpPr>
            <p:spPr>
              <a:xfrm>
                <a:off x="556590" y="1127727"/>
                <a:ext cx="10813774" cy="1846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2400" b="1" dirty="0"/>
                  <a:t>Sistema:</a:t>
                </a:r>
                <a:r>
                  <a:rPr lang="es-CO" sz="2400" dirty="0"/>
                  <a:t> masa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CO" sz="2400" dirty="0"/>
                  <a:t>, resorte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sz="2400" dirty="0"/>
                  <a:t>, amortiguador viscoso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CO" sz="2400" dirty="0"/>
                  <a:t>, posición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O" sz="2400" dirty="0"/>
                  <a:t>medida desde el equilibrio.</a:t>
                </a:r>
                <a:br>
                  <a:rPr lang="es-CO" sz="2400" dirty="0"/>
                </a:br>
                <a:r>
                  <a:rPr lang="es-CO" sz="2400" b="1" dirty="0"/>
                  <a:t>Fuerzas:</a:t>
                </a:r>
                <a:r>
                  <a:rPr lang="es-CO" sz="2400" dirty="0"/>
                  <a:t> resorte </a:t>
                </a:r>
                <a14:m>
                  <m:oMath xmlns:m="http://schemas.openxmlformats.org/officeDocument/2006/math">
                    <m:r>
                      <a:rPr lang="es-CO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𝑘𝑦</m:t>
                    </m:r>
                  </m:oMath>
                </a14:m>
                <a:r>
                  <a:rPr lang="es-CO" sz="2400" dirty="0"/>
                  <a:t>, amortiguador </a:t>
                </a:r>
                <a14:m>
                  <m:oMath xmlns:m="http://schemas.openxmlformats.org/officeDocument/2006/math">
                    <m:r>
                      <a:rPr lang="es-CO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nor/>
                      </m:rPr>
                      <a:rPr lang="es-CO" i="1"/>
                      <m:t> 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ar-AE" sz="2400" dirty="0"/>
                  <a:t>, </a:t>
                </a:r>
                <a:r>
                  <a:rPr lang="es-CO" sz="2400" dirty="0"/>
                  <a:t>externa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2400" dirty="0"/>
                  <a:t>.</a:t>
                </a:r>
                <a:br>
                  <a:rPr lang="ar-AE" sz="2400" dirty="0"/>
                </a:br>
                <a:r>
                  <a:rPr lang="es-CO" sz="2400" b="1" dirty="0"/>
                  <a:t>Segunda ley de Newton:</a:t>
                </a:r>
                <a:endParaRPr lang="es-CO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nor/>
                        </m:rPr>
                        <a:rPr lang="es-CO" i="1"/>
                        <m:t> </m:t>
                      </m:r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104FA07-0DE4-17F2-EE2F-958E4172A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0" y="1127727"/>
                <a:ext cx="10813774" cy="1846659"/>
              </a:xfrm>
              <a:prstGeom prst="rect">
                <a:avLst/>
              </a:prstGeom>
              <a:blipFill>
                <a:blip r:embed="rId3"/>
                <a:stretch>
                  <a:fillRect l="-846" t="-2640" b="-66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FB5DE5-3291-E17F-FF61-5D61A6977BD6}"/>
                  </a:ext>
                </a:extLst>
              </p:cNvPr>
              <p:cNvSpPr txBox="1"/>
              <p:nvPr/>
            </p:nvSpPr>
            <p:spPr>
              <a:xfrm>
                <a:off x="689113" y="3497641"/>
                <a:ext cx="10813774" cy="2301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1" dirty="0"/>
                  <a:t>Forma normalizada:</a:t>
                </a:r>
                <a:r>
                  <a:rPr lang="es-CO" dirty="0"/>
                  <a:t> 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es-CO" dirty="0"/>
                  <a:t> (frecuencia natural) y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𝜁</m:t>
                    </m:r>
                    <m:r>
                      <a:rPr lang="es-CO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𝑘𝑚</m:t>
                            </m:r>
                          </m:e>
                        </m:rad>
                      </m:den>
                    </m:f>
                  </m:oMath>
                </a14:m>
                <a:r>
                  <a:rPr lang="ar-AE" dirty="0"/>
                  <a:t>(</a:t>
                </a:r>
                <a:r>
                  <a:rPr lang="es-CO" dirty="0"/>
                  <a:t>factor de amortiguamiento).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𝜁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r>
                  <a:rPr lang="es-CO" b="1" dirty="0"/>
                  <a:t>Lectura física:</a:t>
                </a:r>
                <a:endParaRPr lang="es-CO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CO" dirty="0"/>
                  <a:t>dicta la “velocidad natural” del sistema sin amortiguar.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s-CO" dirty="0"/>
                  <a:t>mide cuánto amortiguamiento hay: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𝜁</m:t>
                    </m:r>
                    <m:r>
                      <a:rPr lang="es-CO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CO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CO" dirty="0" err="1"/>
                  <a:t>subamortiguado</a:t>
                </a:r>
                <a:r>
                  <a:rPr lang="es-CO" dirty="0"/>
                  <a:t> (oscilatorio),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𝜁</m:t>
                    </m:r>
                    <m:r>
                      <a:rPr lang="es-CO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CO" dirty="0"/>
                  <a:t>crítico (más rápido sin oscilar), </a:t>
                </a: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𝜁</m:t>
                    </m:r>
                    <m:r>
                      <a:rPr lang="es-CO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CO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s-CO" dirty="0" err="1"/>
                  <a:t>sobreamortiguado</a:t>
                </a:r>
                <a:r>
                  <a:rPr lang="es-CO" dirty="0"/>
                  <a:t> (sin oscilación, lento).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FB5DE5-3291-E17F-FF61-5D61A6977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13" y="3497641"/>
                <a:ext cx="10813774" cy="2301527"/>
              </a:xfrm>
              <a:prstGeom prst="rect">
                <a:avLst/>
              </a:prstGeom>
              <a:blipFill>
                <a:blip r:embed="rId4"/>
                <a:stretch>
                  <a:fillRect l="-451" b="-344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93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948EA-555A-5316-66E0-48626C3F0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80A3-282D-D95C-FA16-FCC75C74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EDO (2do orden)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125C93-5360-E88D-B7FE-49D917B5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7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164098AE-4FA8-72C8-4015-5085E371663A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085A5D6-5A95-CEB9-B32F-1894627D61DD}"/>
                  </a:ext>
                </a:extLst>
              </p:cNvPr>
              <p:cNvSpPr txBox="1"/>
              <p:nvPr/>
            </p:nvSpPr>
            <p:spPr>
              <a:xfrm>
                <a:off x="429910" y="957829"/>
                <a:ext cx="11762089" cy="52239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CO" dirty="0"/>
                  <a:t>Caso libre </a:t>
                </a:r>
                <a14:m>
                  <m:oMath xmlns:m="http://schemas.openxmlformats.org/officeDocument/2006/math">
                    <m:r>
                      <a:rPr lang="es-CO" b="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CO" dirty="0"/>
              </a:p>
              <a:p>
                <a:pPr>
                  <a:buNone/>
                </a:pPr>
                <a:r>
                  <a:rPr lang="es-CO" dirty="0"/>
                  <a:t>Ecuación característica: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.</a:t>
                </a:r>
                <a:endParaRPr lang="es-E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es-ES" dirty="0"/>
                  <a:t>a</a:t>
                </a:r>
                <a:r>
                  <a:rPr lang="es-CO" dirty="0"/>
                  <a:t>) </a:t>
                </a:r>
                <a:r>
                  <a:rPr lang="es-CO" dirty="0" err="1"/>
                  <a:t>Subamortiguado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s-CO" dirty="0"/>
                  <a:t>Raíces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±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s-CO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ar-AE" dirty="0"/>
                  <a:t>.</a:t>
                </a:r>
                <a:br>
                  <a:rPr lang="ar-AE" dirty="0"/>
                </a:br>
                <a:r>
                  <a:rPr lang="es-CO" dirty="0"/>
                  <a:t>Solución: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ar-AE" b="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b="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func>
                      <m:r>
                        <a:rPr lang="ar-AE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b="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func>
                      <m:r>
                        <a:rPr lang="ar-AE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s-CO" dirty="0"/>
                  <a:t>Con condiciones iniciales </a:t>
                </a:r>
                <a14:m>
                  <m:oMath xmlns:m="http://schemas.openxmlformats.org/officeDocument/2006/math">
                    <m:r>
                      <a:rPr lang="es-CO" b="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b="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b="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ES" dirty="0"/>
              </a:p>
              <a:p>
                <a:pPr>
                  <a:buNone/>
                </a:pPr>
                <a:r>
                  <a:rPr lang="es-CO" dirty="0"/>
                  <a:t>b) Crítico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es-CO" dirty="0"/>
                  <a:t>Raíz doble </a:t>
                </a:r>
                <a14:m>
                  <m:oMath xmlns:m="http://schemas.openxmlformats.org/officeDocument/2006/math">
                    <m:r>
                      <a:rPr lang="es-CO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s-CO" b="0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dirty="0"/>
                  <a:t>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b="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s-CO" dirty="0"/>
                  <a:t>c) </a:t>
                </a:r>
                <a:r>
                  <a:rPr lang="es-CO" dirty="0" err="1"/>
                  <a:t>Sobreamortiguado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s-CO" dirty="0"/>
                  <a:t>Raíces reales negativas distintas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lang="ar-AE" dirty="0"/>
                  <a:t>.</a:t>
                </a:r>
                <a:endParaRPr lang="es-E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b="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085A5D6-5A95-CEB9-B32F-1894627D6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10" y="957829"/>
                <a:ext cx="11762089" cy="5223994"/>
              </a:xfrm>
              <a:prstGeom prst="rect">
                <a:avLst/>
              </a:prstGeom>
              <a:blipFill>
                <a:blip r:embed="rId3"/>
                <a:stretch>
                  <a:fillRect l="-467" t="-58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95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BFBD0-6CB9-DF33-1F1A-54294280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7DEFD-93BD-2BC2-4753-5B97D696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Problema No 1.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C34E2DB-4E55-251C-ACA6-07B479E5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8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2E470EF7-4D74-CB28-3D25-EB016EAC2FD2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EAE0B80-536A-6614-675F-03B3DA615582}"/>
                  </a:ext>
                </a:extLst>
              </p:cNvPr>
              <p:cNvSpPr txBox="1"/>
              <p:nvPr/>
            </p:nvSpPr>
            <p:spPr>
              <a:xfrm>
                <a:off x="429910" y="1136160"/>
                <a:ext cx="10749567" cy="486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CO" dirty="0"/>
                  <a:t>Objetivos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Calcular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s-CO" dirty="0"/>
                  <a:t>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s-ES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s-CO" dirty="0"/>
                  <a:t>si aplica) a partir de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CO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s-CO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Derivar la solución analítica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O" dirty="0"/>
                  <a:t>para cada régimen con condiciones iniciales.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Graficar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O" dirty="0"/>
                  <a:t>comparando </a:t>
                </a:r>
                <a:r>
                  <a:rPr lang="es-CO" dirty="0" err="1"/>
                  <a:t>subamortiguado</a:t>
                </a:r>
                <a:r>
                  <a:rPr lang="es-CO" dirty="0"/>
                  <a:t>, crítico y </a:t>
                </a:r>
                <a:r>
                  <a:rPr lang="es-CO" dirty="0" err="1"/>
                  <a:t>sobreamortiguado</a:t>
                </a:r>
                <a:r>
                  <a:rPr lang="es-CO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Interpretar la envolvente, frecuencia amortiguada y velocidad de decaimiento.</a:t>
                </a:r>
              </a:p>
              <a:p>
                <a:pPr>
                  <a:buNone/>
                </a:pPr>
                <a:r>
                  <a:rPr lang="es-CO" dirty="0"/>
                  <a:t>Modelo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b="0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</m:e>
                          </m:rad>
                        </m:den>
                      </m:f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𝜁</m:t>
                              </m:r>
                            </m:e>
                            <m:sup>
                              <m:r>
                                <a:rPr lang="ar-AE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s-CO" i="1">
                              <a:latin typeface="Cambria Math" panose="02040503050406030204" pitchFamily="18" charset="0"/>
                            </a:rPr>
                            <m:t>si</m:t>
                          </m:r>
                          <m:r>
                            <m:rPr>
                              <m:nor/>
                            </m:rPr>
                            <a:rPr lang="es-CO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s-CO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  <m:r>
                            <a:rPr lang="es-CO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CO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s-CO" dirty="0"/>
                  <a:t>Soluciones caso libre,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" dirty="0"/>
              </a:p>
              <a:p>
                <a:pPr>
                  <a:buNone/>
                </a:pPr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 err="1"/>
                  <a:t>Subamortiguado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  <a:br>
                  <a:rPr lang="ar-AE" dirty="0"/>
                </a:b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ar-AE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𝐴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func>
                    <m:r>
                      <a:rPr lang="ar-A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𝐵</m:t>
                    </m:r>
                    <m:func>
                      <m:func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func>
                    <m:r>
                      <a:rPr lang="ar-A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ar-AE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Crítico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  <a:br>
                  <a:rPr lang="ar-AE" dirty="0"/>
                </a:b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ar-AE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ar-A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ar-AE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 err="1"/>
                  <a:t>Sobreamortiguado</a:t>
                </a:r>
                <a:r>
                  <a:rPr lang="es-CO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  <a:br>
                  <a:rPr lang="ar-AE" dirty="0"/>
                </a:b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ar-AE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ar-A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ar-AE" dirty="0"/>
                  <a:t>, </a:t>
                </a:r>
                <a:r>
                  <a:rPr lang="es-CO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𝜁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±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ar-AE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EAE0B80-536A-6614-675F-03B3DA615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10" y="1136160"/>
                <a:ext cx="10749567" cy="4862678"/>
              </a:xfrm>
              <a:prstGeom prst="rect">
                <a:avLst/>
              </a:prstGeom>
              <a:blipFill>
                <a:blip r:embed="rId3"/>
                <a:stretch>
                  <a:fillRect l="-510" t="-627" b="-87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605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D500-9762-F89B-F0AD-EF1A7AC3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43E10-C4B8-7B0A-8392-2D58B832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Problema No 1.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2C82B05-6524-06EA-5306-81558152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9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26CA416A-7C8A-1ECA-8350-6CDD8409C966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71380BA-A06B-DFD3-5B0A-9FBCD8716C63}"/>
                  </a:ext>
                </a:extLst>
              </p:cNvPr>
              <p:cNvSpPr txBox="1"/>
              <p:nvPr/>
            </p:nvSpPr>
            <p:spPr>
              <a:xfrm>
                <a:off x="506385" y="953293"/>
                <a:ext cx="10695015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CO" dirty="0"/>
                  <a:t>Entregable</a:t>
                </a:r>
              </a:p>
              <a:p>
                <a:pPr>
                  <a:buNone/>
                </a:pPr>
                <a:endParaRPr lang="es-CO" dirty="0"/>
              </a:p>
              <a:p>
                <a:pPr>
                  <a:buFont typeface="+mj-lt"/>
                  <a:buAutoNum type="arabicPeriod"/>
                </a:pPr>
                <a:r>
                  <a:rPr lang="es-CO" dirty="0"/>
                  <a:t>Un gráfico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O" dirty="0"/>
                  <a:t>para cada régimen en el intervalo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CO" b="0" i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lang="es-CO" dirty="0"/>
                  <a:t>s.</a:t>
                </a:r>
              </a:p>
              <a:p>
                <a:pPr>
                  <a:buFont typeface="+mj-lt"/>
                  <a:buAutoNum type="arabicPeriod"/>
                </a:pPr>
                <a:endParaRPr lang="es-CO" dirty="0"/>
              </a:p>
              <a:p>
                <a:pPr>
                  <a:buFont typeface="+mj-lt"/>
                  <a:buAutoNum type="arabicPeriod"/>
                </a:pPr>
                <a:r>
                  <a:rPr lang="es-CO" dirty="0"/>
                  <a:t>Un gráfico comparativo superponiendo las tres curvas en una sola figura.</a:t>
                </a:r>
              </a:p>
              <a:p>
                <a:endParaRPr lang="es-CO" dirty="0"/>
              </a:p>
              <a:p>
                <a:pPr>
                  <a:buFont typeface="+mj-lt"/>
                  <a:buAutoNum type="arabicPeriod"/>
                </a:pPr>
                <a:r>
                  <a:rPr lang="es-CO" dirty="0"/>
                  <a:t>Un comentario técnico (5–8 líneas) explicando: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s-CO" dirty="0"/>
                  <a:t>cuál decae más rápido y por qué,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s-CO" dirty="0"/>
                  <a:t>qué rol juega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s-CO" dirty="0"/>
                  <a:t>en la envolvente,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s-CO" dirty="0"/>
                  <a:t>cómo cambia el periodo aparente en el caso </a:t>
                </a:r>
                <a:r>
                  <a:rPr lang="es-CO" dirty="0" err="1"/>
                  <a:t>subamortiguado</a:t>
                </a:r>
                <a:r>
                  <a:rPr lang="es-CO" dirty="0"/>
                  <a:t>.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871380BA-A06B-DFD3-5B0A-9FBCD8716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85" y="953293"/>
                <a:ext cx="10695015" cy="2862322"/>
              </a:xfrm>
              <a:prstGeom prst="rect">
                <a:avLst/>
              </a:prstGeom>
              <a:blipFill>
                <a:blip r:embed="rId3"/>
                <a:stretch>
                  <a:fillRect l="-456" t="-1064" b="-234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921765B-D6F6-478B-06F4-693EC898EBB0}"/>
                  </a:ext>
                </a:extLst>
              </p:cNvPr>
              <p:cNvSpPr txBox="1"/>
              <p:nvPr/>
            </p:nvSpPr>
            <p:spPr>
              <a:xfrm>
                <a:off x="506385" y="4145689"/>
                <a:ext cx="1069501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Caso 1: </a:t>
                </a:r>
                <a:r>
                  <a:rPr lang="es-CO" dirty="0"/>
                  <a:t>m=1 kg y </a:t>
                </a:r>
                <a14:m>
                  <m:oMath xmlns:m="http://schemas.openxmlformats.org/officeDocument/2006/math">
                    <m:r>
                      <a:rPr lang="es-CO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CO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s-CO" i="1"/>
                      <m:t> </m:t>
                    </m:r>
                    <m:r>
                      <m:rPr>
                        <m:nor/>
                      </m:rPr>
                      <a:rPr lang="es-CO" i="1"/>
                      <m:t>N</m:t>
                    </m:r>
                    <m:r>
                      <m:rPr>
                        <m:nor/>
                      </m:rPr>
                      <a:rPr lang="es-CO" i="1"/>
                      <m:t>/</m:t>
                    </m:r>
                    <m:r>
                      <m:rPr>
                        <m:nor/>
                      </m:rPr>
                      <a:rPr lang="es-CO" i="1"/>
                      <m:t>m</m:t>
                    </m:r>
                  </m:oMath>
                </a14:m>
                <a:r>
                  <a:rPr lang="es-CO" dirty="0"/>
                  <a:t> c=0.6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Caso 2: m=1 kg y </a:t>
                </a:r>
                <a14:m>
                  <m:oMath xmlns:m="http://schemas.openxmlformats.org/officeDocument/2006/math">
                    <m:r>
                      <a:rPr lang="es-CO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CO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s-CO" i="1"/>
                      <m:t> </m:t>
                    </m:r>
                    <m:r>
                      <m:rPr>
                        <m:nor/>
                      </m:rPr>
                      <a:rPr lang="es-CO" i="1"/>
                      <m:t>N</m:t>
                    </m:r>
                    <m:r>
                      <m:rPr>
                        <m:nor/>
                      </m:rPr>
                      <a:rPr lang="es-CO" i="1"/>
                      <m:t>/</m:t>
                    </m:r>
                    <m:r>
                      <m:rPr>
                        <m:nor/>
                      </m:rPr>
                      <a:rPr lang="es-CO" i="1"/>
                      <m:t>m</m:t>
                    </m:r>
                    <m:r>
                      <m:rPr>
                        <m:nor/>
                      </m:rPr>
                      <a:rPr lang="es-ES" i="1" smtClean="0"/>
                      <m:t> </m:t>
                    </m:r>
                    <m:r>
                      <m:rPr>
                        <m:nor/>
                      </m:rPr>
                      <a:rPr lang="es-ES" i="1" smtClean="0"/>
                      <m:t>c</m:t>
                    </m:r>
                    <m:r>
                      <m:rPr>
                        <m:nor/>
                      </m:rPr>
                      <a:rPr lang="es-ES" i="1" smtClean="0"/>
                      <m:t>=</m:t>
                    </m:r>
                    <m:r>
                      <m:rPr>
                        <m:nor/>
                      </m:rPr>
                      <a:rPr lang="es-ES" i="1" smtClean="0"/>
                      <m:t>4</m:t>
                    </m:r>
                  </m:oMath>
                </a14:m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dirty="0"/>
                  <a:t>Caso 3: m=1 kg y </a:t>
                </a:r>
                <a14:m>
                  <m:oMath xmlns:m="http://schemas.openxmlformats.org/officeDocument/2006/math">
                    <m:r>
                      <a:rPr lang="es-CO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s-CO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b="0" i="1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s-CO" i="1"/>
                      <m:t> </m:t>
                    </m:r>
                    <m:r>
                      <m:rPr>
                        <m:nor/>
                      </m:rPr>
                      <a:rPr lang="es-CO" i="1"/>
                      <m:t>N</m:t>
                    </m:r>
                    <m:r>
                      <m:rPr>
                        <m:nor/>
                      </m:rPr>
                      <a:rPr lang="es-CO" i="1"/>
                      <m:t>/</m:t>
                    </m:r>
                    <m:r>
                      <m:rPr>
                        <m:nor/>
                      </m:rPr>
                      <a:rPr lang="es-CO" i="1"/>
                      <m:t>m</m:t>
                    </m:r>
                  </m:oMath>
                </a14:m>
                <a:r>
                  <a:rPr lang="es-CO" dirty="0"/>
                  <a:t> c=6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y(0)=0, y’​(0)=1 m/s.</a:t>
                </a:r>
                <a:endParaRPr lang="es-CO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921765B-D6F6-478B-06F4-693EC898E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85" y="4145689"/>
                <a:ext cx="10695015" cy="1200329"/>
              </a:xfrm>
              <a:prstGeom prst="rect">
                <a:avLst/>
              </a:prstGeom>
              <a:blipFill>
                <a:blip r:embed="rId4"/>
                <a:stretch>
                  <a:fillRect l="-342" t="-2538" b="-71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875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176B-5164-364E-484F-4EC7272A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11FD3-C975-217B-C700-54AA7282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¿Qué es un sistema dinámico?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4C9B6-5AF8-9414-8E9C-76B93F22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10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DA1F4B28-9E07-929F-61A7-78651256D629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F9CAB8-236F-6120-191C-45A75088DA2D}"/>
              </a:ext>
            </a:extLst>
          </p:cNvPr>
          <p:cNvSpPr txBox="1"/>
          <p:nvPr/>
        </p:nvSpPr>
        <p:spPr>
          <a:xfrm>
            <a:off x="556590" y="1127727"/>
            <a:ext cx="108137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Es un modelo que describe </a:t>
            </a:r>
            <a:r>
              <a:rPr lang="es-ES" sz="2400" b="1" dirty="0"/>
              <a:t>cómo un estado cambia en el tiempo</a:t>
            </a:r>
            <a:r>
              <a:rPr lang="es-ES" sz="2400" dirty="0"/>
              <a:t> según reglas determinísticas (ecuaciones diferenciales) o estocásticas.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Estado</a:t>
            </a:r>
            <a:r>
              <a:rPr lang="es-ES" sz="2400" dirty="0"/>
              <a:t>: conjunto mínimo de variables que “guardan memoria” del sistema (p. ej., posición y velocidad).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Entrada</a:t>
            </a:r>
            <a:r>
              <a:rPr lang="es-ES" sz="2400" dirty="0"/>
              <a:t>: señales externas que lo excitan (fuerzas, voltajes).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b="1" dirty="0"/>
              <a:t>Salida</a:t>
            </a:r>
            <a:r>
              <a:rPr lang="es-ES" sz="2400" dirty="0"/>
              <a:t>: lo que observamos (desplazamiento, corriente).</a:t>
            </a:r>
            <a:br>
              <a:rPr lang="es-ES" sz="2400" dirty="0"/>
            </a:br>
            <a:r>
              <a:rPr lang="es-ES" sz="2400" dirty="0"/>
              <a:t>Frecuente: sistemas </a:t>
            </a:r>
            <a:r>
              <a:rPr lang="es-ES" sz="2400" b="1" dirty="0"/>
              <a:t>lineales e invariantes en el tiempo (LTI)</a:t>
            </a:r>
            <a:r>
              <a:rPr lang="es-ES" sz="2400" dirty="0"/>
              <a:t>, descritos por </a:t>
            </a:r>
            <a:r>
              <a:rPr lang="es-ES" sz="2400" dirty="0" err="1"/>
              <a:t>EDOs</a:t>
            </a:r>
            <a:r>
              <a:rPr lang="es-ES" sz="2400" dirty="0"/>
              <a:t> lineales con coeficientes constantes.</a:t>
            </a:r>
          </a:p>
        </p:txBody>
      </p:sp>
    </p:spTree>
    <p:extLst>
      <p:ext uri="{BB962C8B-B14F-4D97-AF65-F5344CB8AC3E}">
        <p14:creationId xmlns:p14="http://schemas.microsoft.com/office/powerpoint/2010/main" val="1397630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D3F0-617D-E176-7D4B-12FDD1292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B7802-34D1-D6C5-2D15-EA8840832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408781"/>
            <a:ext cx="10515600" cy="544512"/>
          </a:xfrm>
        </p:spPr>
        <p:txBody>
          <a:bodyPr/>
          <a:lstStyle/>
          <a:p>
            <a:r>
              <a:rPr lang="es-ES" dirty="0"/>
              <a:t>Problema No 2.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65AA9E-732E-6310-6804-282133F2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11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2D46B5E1-EF44-4287-DE9D-76C4F6031F7F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A5C6838-55BB-95D8-4A50-E0546AAAD355}"/>
              </a:ext>
            </a:extLst>
          </p:cNvPr>
          <p:cNvSpPr txBox="1"/>
          <p:nvPr/>
        </p:nvSpPr>
        <p:spPr>
          <a:xfrm>
            <a:off x="996041" y="5212513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Mueva la traza del sistema a través del diagrama de </a:t>
            </a:r>
            <a:r>
              <a:rPr lang="es-ES" sz="1800" dirty="0" err="1"/>
              <a:t>Poincare</a:t>
            </a:r>
            <a:r>
              <a:rPr lang="es-ES" sz="1800" dirty="0"/>
              <a:t> para analizar su comportamiento y respuesta.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FA08858-91F4-4203-939A-1F99555FD938}"/>
                  </a:ext>
                </a:extLst>
              </p:cNvPr>
              <p:cNvSpPr txBox="1"/>
              <p:nvPr/>
            </p:nvSpPr>
            <p:spPr>
              <a:xfrm>
                <a:off x="838200" y="1091489"/>
                <a:ext cx="10515600" cy="3896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dirty="0"/>
                  <a:t>Ya conocemos que un sistema masa-resorte-amortiguador homogéneo en este caso puede verse de la siguiente forma:</a:t>
                </a:r>
              </a:p>
              <a:p>
                <a:endParaRPr lang="es-E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nor/>
                        </m:rPr>
                        <a:rPr lang="es-CO" i="1"/>
                        <m:t> </m:t>
                      </m:r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nor/>
                        </m:rPr>
                        <a:rPr lang="ar-AE" i="1"/>
                        <m:t> 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ES" b="0" dirty="0"/>
              </a:p>
              <a:p>
                <a:r>
                  <a:rPr lang="es-ES" dirty="0"/>
                  <a:t>Por lo tanto, podemos decir que: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nor/>
                        </m:rPr>
                        <a:rPr lang="es-CO" i="1"/>
                        <m:t> </m:t>
                      </m:r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̇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acc>
                        <m:accPr>
                          <m:chr m:val="̇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ES" b="0" dirty="0"/>
              </a:p>
              <a:p>
                <a:r>
                  <a:rPr lang="es-ES" dirty="0"/>
                  <a:t>En donde podemos plantearlo como un sistema de estados teniendo en cuenta que x = [x1, x2]^T = [y y’]^T</a:t>
                </a: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s-E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es-ES" b="0" i="1" dirty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s-ES" b="0" i="1" dirty="0" smtClean="0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s-ES" dirty="0"/>
              </a:p>
              <a:p>
                <a:endParaRPr lang="ar-AE" dirty="0"/>
              </a:p>
              <a:p>
                <a:endParaRPr lang="es-ES" sz="1800" dirty="0"/>
              </a:p>
              <a:p>
                <a:endParaRPr lang="es-E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6FA08858-91F4-4203-939A-1F99555FD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091489"/>
                <a:ext cx="10515600" cy="3896836"/>
              </a:xfrm>
              <a:prstGeom prst="rect">
                <a:avLst/>
              </a:prstGeom>
              <a:blipFill>
                <a:blip r:embed="rId3"/>
                <a:stretch>
                  <a:fillRect l="-522" t="-78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F0201249-9EE0-E5DE-B5CF-C22FB838F24A}"/>
                  </a:ext>
                </a:extLst>
              </p14:cNvPr>
              <p14:cNvContentPartPr/>
              <p14:nvPr/>
            </p14:nvContentPartPr>
            <p14:xfrm>
              <a:off x="2170877" y="4065531"/>
              <a:ext cx="360" cy="360"/>
            </p14:xfrm>
          </p:contentPart>
        </mc:Choice>
        <mc:Fallback xmlns=""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F0201249-9EE0-E5DE-B5CF-C22FB838F2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64757" y="405941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7639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3066-3797-469C-A65E-08600DDD8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772C7-6A4A-D49E-03A3-A53505D4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10" y="289511"/>
            <a:ext cx="10515600" cy="544512"/>
          </a:xfrm>
        </p:spPr>
        <p:txBody>
          <a:bodyPr/>
          <a:lstStyle/>
          <a:p>
            <a:r>
              <a:rPr lang="es-ES" dirty="0"/>
              <a:t>Diagrama de Poincaré</a:t>
            </a:r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DEBB01-F071-67D2-B0C4-DF7B87F2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489-697C-47CB-93D0-AEFF3C3206B5}" type="slidenum">
              <a:rPr lang="es-CO" smtClean="0"/>
              <a:pPr/>
              <a:t>12</a:t>
            </a:fld>
            <a:endParaRPr lang="es-CO" sz="2800" dirty="0"/>
          </a:p>
        </p:txBody>
      </p:sp>
      <p:sp>
        <p:nvSpPr>
          <p:cNvPr id="46" name="Marcador de pie de página 46">
            <a:extLst>
              <a:ext uri="{FF2B5EF4-FFF2-40B4-BE49-F238E27FC236}">
                <a16:creationId xmlns:a16="http://schemas.microsoft.com/office/drawing/2014/main" id="{E015DE1D-B99B-325F-065A-670CEB06B3B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DSM</a:t>
            </a:r>
          </a:p>
        </p:txBody>
      </p:sp>
      <p:pic>
        <p:nvPicPr>
          <p:cNvPr id="1026" name="Picture 2" descr="Poincare | PDF">
            <a:extLst>
              <a:ext uri="{FF2B5EF4-FFF2-40B4-BE49-F238E27FC236}">
                <a16:creationId xmlns:a16="http://schemas.microsoft.com/office/drawing/2014/main" id="{CB27DA79-EAF0-FAF4-8D5D-885891895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966580"/>
            <a:ext cx="73152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407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9f80f40-01cc-47d5-8174-d81453be3a0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4EFD64CC5C954AA94FB306EB55233B" ma:contentTypeVersion="17" ma:contentTypeDescription="Crear nuevo documento." ma:contentTypeScope="" ma:versionID="0683ee08fc1fccd0ff839c94ece4d2eb">
  <xsd:schema xmlns:xsd="http://www.w3.org/2001/XMLSchema" xmlns:xs="http://www.w3.org/2001/XMLSchema" xmlns:p="http://schemas.microsoft.com/office/2006/metadata/properties" xmlns:ns3="19f80f40-01cc-47d5-8174-d81453be3a05" xmlns:ns4="ce13bde9-b1f2-453d-8d9d-a3129ab1ca2c" targetNamespace="http://schemas.microsoft.com/office/2006/metadata/properties" ma:root="true" ma:fieldsID="beb2463fe10032f14c324124c27705d3" ns3:_="" ns4:_="">
    <xsd:import namespace="19f80f40-01cc-47d5-8174-d81453be3a05"/>
    <xsd:import namespace="ce13bde9-b1f2-453d-8d9d-a3129ab1ca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OCR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80f40-01cc-47d5-8174-d81453be3a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13bde9-b1f2-453d-8d9d-a3129ab1ca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D4395D-A1C6-410B-B6D6-A4DD2C9C62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94EFB4-3845-4E5C-884B-EDDA78CC8353}">
  <ds:schemaRefs>
    <ds:schemaRef ds:uri="http://purl.org/dc/terms/"/>
    <ds:schemaRef ds:uri="http://purl.org/dc/dcmitype/"/>
    <ds:schemaRef ds:uri="http://schemas.openxmlformats.org/package/2006/metadata/core-properties"/>
    <ds:schemaRef ds:uri="19f80f40-01cc-47d5-8174-d81453be3a05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ce13bde9-b1f2-453d-8d9d-a3129ab1ca2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CE3C2C7-E337-4D6F-8635-664ADEB3E5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f80f40-01cc-47d5-8174-d81453be3a05"/>
    <ds:schemaRef ds:uri="ce13bde9-b1f2-453d-8d9d-a3129ab1ca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16590</TotalTime>
  <Words>1093</Words>
  <Application>Microsoft Office PowerPoint</Application>
  <PresentationFormat>Panorámica</PresentationFormat>
  <Paragraphs>153</Paragraphs>
  <Slides>12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Tema de Office</vt:lpstr>
      <vt:lpstr>Presentación de PowerPoint</vt:lpstr>
      <vt:lpstr>Temas</vt:lpstr>
      <vt:lpstr>EDO y EDP</vt:lpstr>
      <vt:lpstr>EDO (1er orden)</vt:lpstr>
      <vt:lpstr>EDO (1er orden)</vt:lpstr>
      <vt:lpstr>EDO (2do orden)</vt:lpstr>
      <vt:lpstr>EDO (2do orden)</vt:lpstr>
      <vt:lpstr>Problema No 1.</vt:lpstr>
      <vt:lpstr>Problema No 1.</vt:lpstr>
      <vt:lpstr>¿Qué es un sistema dinámico?</vt:lpstr>
      <vt:lpstr>Problema No 2.</vt:lpstr>
      <vt:lpstr>Diagrama de Poincaré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David Andres Gaona Castillo</dc:creator>
  <cp:lastModifiedBy>Daniel Alejandro Alvarez Vanegas</cp:lastModifiedBy>
  <cp:revision>321</cp:revision>
  <dcterms:created xsi:type="dcterms:W3CDTF">2017-09-28T17:08:57Z</dcterms:created>
  <dcterms:modified xsi:type="dcterms:W3CDTF">2025-10-14T01:29:32Z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791f77-3d39-4d72-9277-ac879ec799ed_Enabled">
    <vt:lpwstr>true</vt:lpwstr>
  </property>
  <property fmtid="{D5CDD505-2E9C-101B-9397-08002B2CF9AE}" pid="3" name="MSIP_Label_36791f77-3d39-4d72-9277-ac879ec799ed_SetDate">
    <vt:lpwstr>2025-08-04T23:12:08Z</vt:lpwstr>
  </property>
  <property fmtid="{D5CDD505-2E9C-101B-9397-08002B2CF9AE}" pid="4" name="MSIP_Label_36791f77-3d39-4d72-9277-ac879ec799ed_Method">
    <vt:lpwstr>Standard</vt:lpwstr>
  </property>
  <property fmtid="{D5CDD505-2E9C-101B-9397-08002B2CF9AE}" pid="5" name="MSIP_Label_36791f77-3d39-4d72-9277-ac879ec799ed_Name">
    <vt:lpwstr>restricted-default</vt:lpwstr>
  </property>
  <property fmtid="{D5CDD505-2E9C-101B-9397-08002B2CF9AE}" pid="6" name="MSIP_Label_36791f77-3d39-4d72-9277-ac879ec799ed_SiteId">
    <vt:lpwstr>254ba93e-1f6f-48f3-90e6-e2766664b477</vt:lpwstr>
  </property>
  <property fmtid="{D5CDD505-2E9C-101B-9397-08002B2CF9AE}" pid="7" name="MSIP_Label_36791f77-3d39-4d72-9277-ac879ec799ed_ActionId">
    <vt:lpwstr>e5fede40-1bad-4af3-9ba8-424d918067cb</vt:lpwstr>
  </property>
  <property fmtid="{D5CDD505-2E9C-101B-9397-08002B2CF9AE}" pid="8" name="MSIP_Label_36791f77-3d39-4d72-9277-ac879ec799ed_ContentBits">
    <vt:lpwstr>0</vt:lpwstr>
  </property>
  <property fmtid="{D5CDD505-2E9C-101B-9397-08002B2CF9AE}" pid="9" name="MSIP_Label_36791f77-3d39-4d72-9277-ac879ec799ed_Tag">
    <vt:lpwstr>10, 3, 0, 1</vt:lpwstr>
  </property>
  <property fmtid="{D5CDD505-2E9C-101B-9397-08002B2CF9AE}" pid="10" name="ContentTypeId">
    <vt:lpwstr>0x010100734EFD64CC5C954AA94FB306EB55233B</vt:lpwstr>
  </property>
</Properties>
</file>